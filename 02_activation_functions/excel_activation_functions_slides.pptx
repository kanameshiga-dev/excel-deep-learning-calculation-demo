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活性化関数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207008"/>
            <a:ext cx="667512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Excelで体験するディープラーニングの計算しくみ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5943600" cy="7132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3600" b="1">
                <a:solidFill>
                  <a:srgbClr val="24324B"/>
                </a:solidFill>
                <a:latin typeface="Yu Gothic"/>
              </a:defRPr>
            </a:pPr>
            <a:r>
              <a:t>第2回 活性化関数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87168"/>
            <a:ext cx="5715000" cy="38404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活性化関数の出力と勾配のつながりを見る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234440"/>
            <a:ext cx="288036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2057400"/>
            <a:ext cx="2880360" cy="566928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Pythonで計算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880360"/>
            <a:ext cx="288036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表で結果を読む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79408" y="1810512"/>
            <a:ext cx="0" cy="201168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79408" y="2633472"/>
            <a:ext cx="0" cy="201168"/>
          </a:xfrm>
          <a:prstGeom prst="line">
            <a:avLst/>
          </a:prstGeom>
          <a:ln w="27940">
            <a:solidFill>
              <a:srgbClr val="276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60120" y="4315968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関数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4315968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出力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315968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勾配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0320" y="4636007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0916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858000" y="4636007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" y="5504688"/>
            <a:ext cx="978408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青=入力、黄=途中計算、緑=出力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SERIES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最初の計算から応用の形へつなげる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</a:t>
            </a:r>
            <a:br/>
            <a:r>
              <a:t>線形変換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1965960" cy="7772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2</a:t>
            </a:r>
            <a:br/>
            <a:r>
              <a:t>活性化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5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3</a:t>
            </a:r>
            <a:br/>
            <a:r>
              <a:t>損失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4</a:t>
            </a:r>
            <a:br/>
            <a:r>
              <a:t>勾配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29800" y="141732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5</a:t>
            </a:r>
            <a:br/>
            <a:r>
              <a:t>逆伝播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6</a:t>
            </a:r>
            <a:br/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7</a:t>
            </a:r>
            <a:br/>
            <a:r>
              <a:t>正則化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8</a:t>
            </a:r>
            <a:br/>
            <a:r>
              <a:t>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9</a:t>
            </a:r>
            <a:br/>
            <a:r>
              <a:t>RNN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834640"/>
            <a:ext cx="19659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0">
                <a:solidFill>
                  <a:srgbClr val="24324B"/>
                </a:solidFill>
                <a:latin typeface="Yu Gothic"/>
              </a:defRPr>
            </a:pPr>
            <a:r>
              <a:t>10</a:t>
            </a:r>
            <a:br/>
            <a:r>
              <a:t>Attention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645152"/>
            <a:ext cx="10469880" cy="713232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scoreを出力や勾配へ変える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活性化関数の出力と勾配のつながりを見る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活性化関数の出力と勾配のつながりを見る</a:t>
            </a:r>
          </a:p>
          <a:p>
            <a:r>
              <a:t>• Excel上の値や設定を変更する</a:t>
            </a:r>
          </a:p>
          <a:p>
            <a:r>
              <a:t>• PythonがWorkbookから読み直して計算する</a:t>
            </a:r>
          </a:p>
          <a:p>
            <a:r>
              <a:t>• 返却表の列を見て変化を確認する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353312"/>
            <a:ext cx="4663440" cy="13716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活性化関数とは</a:t>
            </a:r>
            <a:br/>
            <a:br/>
            <a:r>
              <a:t>活性化関数とは、線形変換で作ったscoreを別の形に変換し、ニューラルネットワークに非線形な表現力を加える関数です。Softmaxは分類の確率として読み、Cross Entropyの勾配へつながります。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2999232"/>
            <a:ext cx="4663440" cy="126187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見える変化</a:t>
            </a:r>
            <a:br/>
            <a:br/>
            <a:r>
              <a:t>target_class</a:t>
            </a:r>
            <a:br/>
            <a:r>
              <a:t>p-yの勾配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5102352"/>
            <a:ext cx="1481328" cy="512064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F669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関数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75504" y="5102352"/>
            <a:ext cx="1481328" cy="512064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C77D20"/>
                </a:solidFill>
                <a:latin typeface="Yu Gothic"/>
              </a:defRPr>
            </a:pPr>
            <a:r>
              <a:t>出力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0336" y="5102352"/>
            <a:ext cx="1481328" cy="512064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勾配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87168" y="5358384"/>
            <a:ext cx="603504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72000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56832" y="5358384"/>
            <a:ext cx="603504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活性化関数の計算を図で見る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F6690"/>
                </a:solidFill>
                <a:latin typeface="Yu Gothic"/>
              </a:defRPr>
            </a:pPr>
            <a:r>
              <a:t>入力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207008"/>
            <a:ext cx="365760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C77D20"/>
                </a:solidFill>
                <a:latin typeface="Yu Gothic"/>
              </a:defRPr>
            </a:pPr>
            <a:r>
              <a:t>計算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9248" y="1207008"/>
            <a:ext cx="3108960" cy="29260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500" b="1">
                <a:solidFill>
                  <a:srgbClr val="276749"/>
                </a:solidFill>
                <a:latin typeface="Yu Gothic"/>
              </a:defRPr>
            </a:pPr>
            <a:r>
              <a:t>読む結果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1856231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関数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856231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出力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56231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勾配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176272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0916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2176272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14400" y="2852928"/>
          <a:ext cx="658368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2291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sigmoid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tanh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relu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8001000" y="2971800"/>
            <a:ext cx="2697480" cy="1078992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scoreを出力や勾配へ変える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074920"/>
            <a:ext cx="10378440" cy="566928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scoreを出力や勾配へ変える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788152"/>
            <a:ext cx="987552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ctr">
              <a:defRPr sz="1200" b="0">
                <a:solidFill>
                  <a:srgbClr val="475569"/>
                </a:solidFill>
                <a:latin typeface="Yu Gothic"/>
              </a:defRPr>
            </a:pPr>
            <a:r>
              <a:t>青=入力、黄=途中計算、緑=最終的に読む値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DEMO ASSET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この回で使う4つのファイル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7665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ファイル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excel_activation_functions_demo.xlsx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excel_activation_functions_demo_code.py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計算本体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excel_activation_functions_slides.pptx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解説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README.md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使い方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691640"/>
            <a:ext cx="3246120" cy="12344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76749"/>
                </a:solidFill>
                <a:latin typeface="Yu Gothic"/>
              </a:defRPr>
            </a:pPr>
            <a:r>
              <a:t>Excelで入力し、</a:t>
            </a:r>
            <a:br/>
            <a:r>
              <a:t>Pythonで計算する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60" y="3429000"/>
            <a:ext cx="324612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800" b="1">
                <a:solidFill>
                  <a:srgbClr val="2F6690"/>
                </a:solidFill>
                <a:latin typeface="Yu Gothic"/>
              </a:defRPr>
            </a:pPr>
            <a:r>
              <a:t>READMEで</a:t>
            </a:r>
            <a:br/>
            <a:r>
              <a:t>操作手順を確認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864608"/>
            <a:ext cx="10744200" cy="2743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800" b="0">
                <a:solidFill>
                  <a:srgbClr val="2F6690"/>
                </a:solidFill>
                <a:latin typeface="Yu Gothic"/>
              </a:defRPr>
            </a:pPr>
            <a:r>
              <a:t>GitHub: https://github.com/KanameShiga-dev/excel-deep-learning-calculation-demo/tree/main/02_activation_functions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01_INPUT がPythonに渡す値の入口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6858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範囲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Python上の表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役割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A6:B14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activation_input_df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出力と勾配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D6:E9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softmax_input_df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Softmax確率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G6:I9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settings_df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595360" y="1508760"/>
            <a:ext cx="2743200" cy="24231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Pythonは</a:t>
            </a:r>
            <a:br/>
            <a:r>
              <a:t>xl(...)</a:t>
            </a:r>
            <a:br/>
            <a:r>
              <a:t>でこの範囲を読む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617720"/>
            <a:ext cx="10241280" cy="64008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logitやtarget_classを変えると、Softmaxの確率とp-yの勾配が変わります。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どこを変えると、出力や勾配が変わるか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325880"/>
          <a:ext cx="1097280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76581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A6:B14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input_value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出力と勾配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D6:E9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logit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Softmax確率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658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01_INPUT G6:I9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4800600"/>
            <a:ext cx="10241280" cy="5943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activation、softmax、softmax_ce_gradを切り替えて、出力から勾配への流れを読みます。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ExcelからPython、そして結果表へ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Excel</a:t>
            </a:r>
            <a:br/>
            <a:r>
              <a:t>01_INPUT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600200"/>
            <a:ext cx="201168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F6690"/>
                </a:solidFill>
                <a:latin typeface="Yu Gothic"/>
              </a:defRPr>
            </a:pPr>
            <a:r>
              <a:t>外部Python</a:t>
            </a:r>
            <a:br/>
            <a:r>
              <a:t>xl(...)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600200"/>
            <a:ext cx="2011680" cy="9144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C77D20"/>
                </a:solidFill>
                <a:latin typeface="Yu Gothic"/>
              </a:defRPr>
            </a:pPr>
            <a:r>
              <a:t>pandas / NumPy</a:t>
            </a:r>
            <a:br/>
            <a:r>
              <a:t>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00200"/>
            <a:ext cx="201168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600" b="1">
                <a:solidFill>
                  <a:srgbClr val="276749"/>
                </a:solidFill>
                <a:latin typeface="Yu Gothic"/>
              </a:defRPr>
            </a:pPr>
            <a:r>
              <a:t>result_df</a:t>
            </a:r>
            <a:br/>
            <a:r>
              <a:t>表示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30352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09560" y="2057400"/>
            <a:ext cx="50292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97280" y="3657600"/>
          <a:ext cx="96012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0"/>
                <a:gridCol w="480060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表示名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見るもの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activation_df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関数ごとの出力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確率とrank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初期値の結果を表で読む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417320"/>
          <a:ext cx="75895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sigmoid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tanh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relu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-0.964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0.500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0.881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0.964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15400" y="1508760"/>
            <a:ext cx="2286000" cy="16916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softmaxと</a:t>
            </a:r>
            <a:br/>
            <a:r>
              <a:t>p-yを読む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42519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関数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42519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出力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42519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勾配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45720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0916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58000" y="45720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RUNBOOK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Python in Excel の実行手順だけを確認する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9494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</a:tblGrid>
              <a:tr h="5334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Python in Excel のセルを作成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外部 .py を貼り付け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Ctrl + Enter で実行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result_df を確認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display_mode を変えて再実行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046720" y="1600200"/>
            <a:ext cx="3017520" cy="20116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2000" b="1">
                <a:solidFill>
                  <a:srgbClr val="276749"/>
                </a:solidFill>
                <a:latin typeface="Yu Gothic"/>
              </a:defRPr>
            </a:pPr>
            <a:r>
              <a:t>実行後は</a:t>
            </a:r>
            <a:br/>
            <a:r>
              <a:t>result_df を確認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DISPLAY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display_modeで表示する表を切り替える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417320"/>
          <a:ext cx="85496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9880"/>
                <a:gridCol w="2849880"/>
                <a:gridCol w="2849880"/>
              </a:tblGrid>
              <a:tr h="5760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読むポイント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activation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activation_df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関数ごとの出力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確率とrank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exam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e_exam_point_df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確認ポイント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464040" y="1508760"/>
            <a:ext cx="1737360" cy="214884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activationから</a:t>
            </a:r>
            <a:br/>
            <a:r>
              <a:t>softmax_ce_gradへ</a:t>
            </a:r>
            <a:br/>
            <a:r>
              <a:t>つなげて読む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返却表の列を読む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input_value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関数へ入る値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sigmoid / tanh / relu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変換後の値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*_grad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その地点の勾配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selected_output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選択中の関数の出力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probability、target、</a:t>
            </a:r>
            <a:br/>
            <a:r>
              <a:t>dLoss_dlogitを</a:t>
            </a:r>
            <a:br/>
            <a:r>
              <a:t>対応づける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HOW TO READ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設定を変えた時の差を見る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325880"/>
          <a:ext cx="68580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7132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Softmax前の値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probability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合計1になる値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大きい順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分布の尖り方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909560" y="1828800"/>
            <a:ext cx="3154680" cy="219456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target_classを</a:t>
            </a:r>
            <a:br/>
            <a:r>
              <a:t>変えたら</a:t>
            </a:r>
            <a:br/>
            <a:r>
              <a:t>p-yの列を見る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CONNECTION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前後の回とのつながり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1508760"/>
            <a:ext cx="1600200" cy="64008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F6690"/>
                </a:solidFill>
                <a:latin typeface="Yu Gothic"/>
              </a:defRPr>
            </a:pPr>
            <a:r>
              <a:t>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関数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08760"/>
            <a:ext cx="1600200" cy="64008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C77D20"/>
                </a:solidFill>
                <a:latin typeface="Yu Gothic"/>
              </a:defRPr>
            </a:pPr>
            <a:r>
              <a:t>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508760"/>
            <a:ext cx="1600200" cy="64008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300" b="1">
                <a:solidFill>
                  <a:srgbClr val="276749"/>
                </a:solidFill>
                <a:latin typeface="Yu Gothic"/>
              </a:defRPr>
            </a:pPr>
            <a:r>
              <a:t>勾配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1828800"/>
            <a:ext cx="54864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0916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1828800"/>
            <a:ext cx="548640" cy="0"/>
          </a:xfrm>
          <a:prstGeom prst="line">
            <a:avLst/>
          </a:prstGeom>
          <a:ln w="27940">
            <a:solidFill>
              <a:srgbClr val="C77D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" y="3703320"/>
            <a:ext cx="3108960" cy="9144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76749"/>
                </a:solidFill>
                <a:latin typeface="Yu Gothic"/>
              </a:defRPr>
            </a:pPr>
            <a:r>
              <a:t>第1回のscoreを受け取る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69080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0" y="3703320"/>
            <a:ext cx="3108960" cy="9144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400" b="1">
                <a:solidFill>
                  <a:srgbClr val="24324B"/>
                </a:solidFill>
                <a:latin typeface="Yu Gothic"/>
              </a:defRPr>
            </a:pPr>
            <a:r>
              <a:t>活性化関数で値を変換する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26679" y="4160520"/>
            <a:ext cx="457200" cy="0"/>
          </a:xfrm>
          <a:prstGeom prst="line">
            <a:avLst/>
          </a:prstGeom>
          <a:ln w="27940">
            <a:solidFill>
              <a:srgbClr val="2F66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3703320"/>
            <a:ext cx="3108960" cy="914400"/>
          </a:xfrm>
          <a:prstGeom prst="roundRect">
            <a:avLst/>
          </a:prstGeom>
          <a:solidFill>
            <a:srgbClr val="F7F4E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第3回でCross EntropyのLossを見る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小さな表で扱う範囲を確認する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8778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4389120"/>
              </a:tblGrid>
              <a:tr h="5943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この教材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実モデル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代表的な関数だけ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用途ごとに多くの関数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小さな表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大量のテンソル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勾配を列で確認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自動微分で計算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097280" y="4389120"/>
            <a:ext cx="9509760" cy="777240"/>
          </a:xfrm>
          <a:prstGeom prst="roundRect">
            <a:avLst/>
          </a:prstGeom>
          <a:solidFill>
            <a:srgbClr val="FFF4CC"/>
          </a:solidFill>
          <a:ln w="12700">
            <a:solidFill>
              <a:srgbClr val="E9D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r>
              <a:t>この回では1つのSoftmax表で、出力確率とp-yの対応に絞ります。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2500" b="1">
                <a:solidFill>
                  <a:srgbClr val="24324B"/>
                </a:solidFill>
                <a:latin typeface="Yu Gothic"/>
              </a:defRPr>
            </a:pPr>
            <a:r>
              <a:t>式、Excel、Pythonの対応を押さえる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417320"/>
            <a:ext cx="3200400" cy="182880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B7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F6690"/>
                </a:solidFill>
                <a:latin typeface="Yu Gothic"/>
              </a:defRPr>
            </a:pPr>
            <a:r>
              <a:t>1</a:t>
            </a:r>
            <a:br/>
            <a:r>
              <a:t>score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59" y="1417320"/>
            <a:ext cx="3200400" cy="1828800"/>
          </a:xfrm>
          <a:prstGeom prst="roundRect">
            <a:avLst/>
          </a:prstGeom>
          <a:solidFill>
            <a:srgbClr val="FFF1D6"/>
          </a:solidFill>
          <a:ln w="12700">
            <a:solidFill>
              <a:srgbClr val="F1C2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C77D20"/>
                </a:solidFill>
                <a:latin typeface="Yu Gothic"/>
              </a:defRPr>
            </a:pPr>
            <a:r>
              <a:t>2</a:t>
            </a:r>
            <a:br/>
            <a:r>
              <a:t>関数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417320"/>
            <a:ext cx="3200400" cy="1828800"/>
          </a:xfrm>
          <a:prstGeom prst="roundRect">
            <a:avLst/>
          </a:prstGeom>
          <a:solidFill>
            <a:srgbClr val="EEF8F1"/>
          </a:solidFill>
          <a:ln w="12700">
            <a:solidFill>
              <a:srgbClr val="B7E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/>
          <a:lstStyle/>
          <a:p>
            <a:pPr algn="ctr">
              <a:defRPr sz="1900" b="1">
                <a:solidFill>
                  <a:srgbClr val="276749"/>
                </a:solidFill>
                <a:latin typeface="Yu Gothic"/>
              </a:defRPr>
            </a:pPr>
            <a:r>
              <a:t>3</a:t>
            </a:r>
            <a:br/>
            <a:r>
              <a:t>出力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05840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活性化関数の出力と勾配のつながりを見る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2194560" cy="256032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l">
              <a:defRPr sz="1000" b="1">
                <a:solidFill>
                  <a:srgbClr val="2F6690"/>
                </a:solidFill>
                <a:latin typeface="Yu Gothic"/>
              </a:defRPr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0789920" cy="502920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r>
              <a:t>この回の用語</a:t>
            </a:r>
          </a:p>
          <a:p>
            <a:r>
              <a:t>Sigmoid: 0から1へ押し込む関数</a:t>
            </a:r>
          </a:p>
          <a:p>
            <a:r>
              <a:t>tanh: -1から1へ押し込む関数</a:t>
            </a:r>
          </a:p>
          <a:p>
            <a:r>
              <a:t>ReLU: 0以下を0にする関数</a:t>
            </a:r>
          </a:p>
          <a:p>
            <a:r>
              <a:t>Softmax: logitを合計1の確率にする関数</a:t>
            </a:r>
          </a:p>
          <a:p>
            <a:r>
              <a:t>p-y: SoftmaxとCross Entropyを合わせた勾配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280160"/>
          <a:ext cx="106070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61395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Yu Gothic"/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input_value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関数へ入る値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logit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Softmax前の値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gradient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勾配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temperature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Softmaxの尖り方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activation_df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出力比較表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softmax_df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4324B"/>
                          </a:solidFill>
                          <a:latin typeface="Yu Gothic"/>
                        </a:defRPr>
                      </a:pPr>
                      <a:r>
                        <a:t>確率比較表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73952"/>
            <a:ext cx="11109960" cy="201168"/>
          </a:xfrm>
          <a:prstGeom prst="rect">
            <a:avLst/>
          </a:prstGeom>
          <a:noFill/>
        </p:spPr>
        <p:txBody>
          <a:bodyPr wrap="square" bIns="36576" anchor="ctr">
            <a:spAutoFit/>
          </a:bodyPr>
          <a:lstStyle/>
          <a:p>
            <a:pPr algn="r">
              <a:defRPr sz="900" b="0">
                <a:solidFill>
                  <a:srgbClr val="475569"/>
                </a:solidFill>
                <a:latin typeface="Yu Gothic"/>
              </a:defRPr>
            </a:pPr>
            <a:r>
              <a:t>Excelで体験するディープラーニングの計算しくみ | 第2回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