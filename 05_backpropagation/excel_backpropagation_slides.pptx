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誤差逆伝播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207008"/>
            <a:ext cx="6675120" cy="38404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900" b="1">
                <a:solidFill>
                  <a:srgbClr val="2F6690"/>
                </a:solidFill>
                <a:latin typeface="Yu Gothic"/>
              </a:defRPr>
            </a:pPr>
            <a:r>
              <a:t>Excelで体験するディープラーニングの計算しくみ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19072"/>
            <a:ext cx="5943600" cy="7132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3600" b="1">
                <a:solidFill>
                  <a:srgbClr val="24324B"/>
                </a:solidFill>
                <a:latin typeface="Yu Gothic"/>
              </a:defRPr>
            </a:pPr>
            <a:r>
              <a:t>第5回 誤差逆伝播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487168"/>
            <a:ext cx="5715000" cy="38404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500" b="1">
                <a:solidFill>
                  <a:srgbClr val="475569"/>
                </a:solidFill>
                <a:latin typeface="Yu Gothic"/>
              </a:defRPr>
            </a:pPr>
            <a:r>
              <a:t>forwardからbackwardまで小さなネットワークで追う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234440"/>
            <a:ext cx="2880360" cy="566928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F6690"/>
                </a:solidFill>
                <a:latin typeface="Yu Gothic"/>
              </a:defRPr>
            </a:pPr>
            <a:r>
              <a:t>Excelで入力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2057400"/>
            <a:ext cx="2880360" cy="566928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C77D20"/>
                </a:solidFill>
                <a:latin typeface="Yu Gothic"/>
              </a:defRPr>
            </a:pPr>
            <a:r>
              <a:t>Pythonで計算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2880360"/>
            <a:ext cx="2880360" cy="566928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76749"/>
                </a:solidFill>
                <a:latin typeface="Yu Gothic"/>
              </a:defRPr>
            </a:pPr>
            <a:r>
              <a:t>表で結果を読む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79408" y="1810512"/>
            <a:ext cx="0" cy="201168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979408" y="2633472"/>
            <a:ext cx="0" cy="201168"/>
          </a:xfrm>
          <a:prstGeom prst="line">
            <a:avLst/>
          </a:prstGeom>
          <a:ln w="27940">
            <a:solidFill>
              <a:srgbClr val="2767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60120" y="4315968"/>
            <a:ext cx="1600200" cy="6400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F6690"/>
                </a:solidFill>
                <a:latin typeface="Yu Gothic"/>
              </a:defRPr>
            </a:pPr>
            <a:r>
              <a:t>forward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4315968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Loss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4315968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local gradient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4315968"/>
            <a:ext cx="1600200" cy="6400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backward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60320" y="4636007"/>
            <a:ext cx="54864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709160" y="4636007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0" y="4636007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15568" y="5504688"/>
            <a:ext cx="9784080" cy="2743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Yu Gothic"/>
              </a:defRPr>
            </a:pPr>
            <a:r>
              <a:t>青=入力、黄=途中計算、緑=出力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第5回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SERIES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最初の計算から応用の形へつなげる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1</a:t>
            </a:r>
            <a:br/>
            <a:r>
              <a:t>線形変換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39" y="141732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2</a:t>
            </a:r>
            <a:br/>
            <a:r>
              <a:t>活性化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59" y="141732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3</a:t>
            </a:r>
            <a:br/>
            <a:r>
              <a:t>損失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41732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4</a:t>
            </a:r>
            <a:br/>
            <a:r>
              <a:t>勾配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29800" y="1417320"/>
            <a:ext cx="1965960" cy="77724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5</a:t>
            </a:r>
            <a:br/>
            <a:r>
              <a:t>逆伝播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83464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6</a:t>
            </a:r>
            <a:br/>
            <a:r>
              <a:t>最適化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283464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7</a:t>
            </a:r>
            <a:br/>
            <a:r>
              <a:t>正則化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59" y="283464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8</a:t>
            </a:r>
            <a:br/>
            <a:r>
              <a:t>CNN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83464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9</a:t>
            </a:r>
            <a:br/>
            <a:r>
              <a:t>RNN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29800" y="2834640"/>
            <a:ext cx="19659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0">
                <a:solidFill>
                  <a:srgbClr val="24324B"/>
                </a:solidFill>
                <a:latin typeface="Yu Gothic"/>
              </a:defRPr>
            </a:pPr>
            <a:r>
              <a:t>10</a:t>
            </a:r>
            <a:br/>
            <a:r>
              <a:t>Attention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645152"/>
            <a:ext cx="10469880" cy="713232"/>
          </a:xfrm>
          <a:prstGeom prst="roundRect">
            <a:avLst/>
          </a:prstGeom>
          <a:solidFill>
            <a:srgbClr val="FFF4CC"/>
          </a:solidFill>
          <a:ln w="12700">
            <a:solidFill>
              <a:srgbClr val="E9D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400" b="1">
                <a:solidFill>
                  <a:srgbClr val="24324B"/>
                </a:solidFill>
                <a:latin typeface="Yu Gothic"/>
              </a:defRPr>
            </a:pPr>
            <a:r>
              <a:t>後ろから順に勾配を掛け合わせる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第5回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forwardからbackwardまで小さなネットワークで追う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4324B"/>
                </a:solidFill>
                <a:latin typeface="Yu Gothic"/>
              </a:defRPr>
            </a:pPr>
            <a:r>
              <a:t>• forwardからbackwardまで小さなネットワークで追う</a:t>
            </a:r>
          </a:p>
          <a:p>
            <a:pPr>
              <a:spcAft>
                <a:spcPts val="800"/>
              </a:spcAft>
              <a:defRPr sz="1600">
                <a:solidFill>
                  <a:srgbClr val="24324B"/>
                </a:solidFill>
                <a:latin typeface="Yu Gothic"/>
              </a:defRPr>
            </a:pPr>
            <a:r>
              <a:t>• Excel上の値や設定を変更する</a:t>
            </a:r>
          </a:p>
          <a:p>
            <a:pPr>
              <a:spcAft>
                <a:spcPts val="800"/>
              </a:spcAft>
              <a:defRPr sz="1600">
                <a:solidFill>
                  <a:srgbClr val="24324B"/>
                </a:solidFill>
                <a:latin typeface="Yu Gothic"/>
              </a:defRPr>
            </a:pPr>
            <a:r>
              <a:t>• PythonがWorkbookから読み直して計算する</a:t>
            </a:r>
          </a:p>
          <a:p>
            <a:pPr>
              <a:spcAft>
                <a:spcPts val="800"/>
              </a:spcAft>
              <a:defRPr sz="1600">
                <a:solidFill>
                  <a:srgbClr val="24324B"/>
                </a:solidFill>
                <a:latin typeface="Yu Gothic"/>
              </a:defRPr>
            </a:pPr>
            <a:r>
              <a:t>• 返却表の列を見て変化を確認する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353312"/>
            <a:ext cx="4663440" cy="13716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100" b="1">
                <a:solidFill>
                  <a:srgbClr val="2F6690"/>
                </a:solidFill>
                <a:latin typeface="Yu Gothic"/>
              </a:defRPr>
            </a:pPr>
            <a:r>
              <a:t>誤差逆伝播とは</a:t>
            </a:r>
            <a:br/>
            <a:br/>
            <a:r>
              <a:t>誤差逆伝播とは、出力側で生じたLossの影響を後ろから前へ戻し、各重みをどれだけ直すかを求める計算です。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2999232"/>
            <a:ext cx="4663440" cy="1261872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500" b="1">
                <a:solidFill>
                  <a:srgbClr val="276749"/>
                </a:solidFill>
                <a:latin typeface="Yu Gothic"/>
              </a:defRPr>
            </a:pPr>
            <a:r>
              <a:t>見える変化</a:t>
            </a:r>
            <a:br/>
            <a:br/>
            <a:r>
              <a:t>x / target</a:t>
            </a:r>
            <a:br/>
            <a:r>
              <a:t>forward値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5102352"/>
            <a:ext cx="1481328" cy="512064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100" b="1">
                <a:solidFill>
                  <a:srgbClr val="2F6690"/>
                </a:solidFill>
                <a:latin typeface="Yu Gothic"/>
              </a:defRPr>
            </a:pPr>
            <a:r>
              <a:t>forward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90672" y="5102352"/>
            <a:ext cx="1481328" cy="512064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100" b="1">
                <a:solidFill>
                  <a:srgbClr val="C77D20"/>
                </a:solidFill>
                <a:latin typeface="Yu Gothic"/>
              </a:defRPr>
            </a:pPr>
            <a:r>
              <a:t>Loss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75504" y="5102352"/>
            <a:ext cx="1481328" cy="512064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100" b="1">
                <a:solidFill>
                  <a:srgbClr val="C77D20"/>
                </a:solidFill>
                <a:latin typeface="Yu Gothic"/>
              </a:defRPr>
            </a:pPr>
            <a:r>
              <a:t>local gradient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0336" y="5102352"/>
            <a:ext cx="1481328" cy="512064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100" b="1">
                <a:solidFill>
                  <a:srgbClr val="276749"/>
                </a:solidFill>
                <a:latin typeface="Yu Gothic"/>
              </a:defRPr>
            </a:pPr>
            <a:r>
              <a:t>backward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87168" y="5358384"/>
            <a:ext cx="603504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72000" y="5358384"/>
            <a:ext cx="603504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656832" y="5358384"/>
            <a:ext cx="603504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第5回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誤差逆伝播の計算を図で見る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07008"/>
            <a:ext cx="3657600" cy="29260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500" b="1">
                <a:solidFill>
                  <a:srgbClr val="2F6690"/>
                </a:solidFill>
                <a:latin typeface="Yu Gothic"/>
              </a:defRPr>
            </a:pPr>
            <a:r>
              <a:t>入力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7639" y="1207008"/>
            <a:ext cx="3657600" cy="29260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500" b="1">
                <a:solidFill>
                  <a:srgbClr val="C77D20"/>
                </a:solidFill>
                <a:latin typeface="Yu Gothic"/>
              </a:defRPr>
            </a:pPr>
            <a:r>
              <a:t>計算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99248" y="1207008"/>
            <a:ext cx="3108960" cy="29260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500" b="1">
                <a:solidFill>
                  <a:srgbClr val="276749"/>
                </a:solidFill>
                <a:latin typeface="Yu Gothic"/>
              </a:defRPr>
            </a:pPr>
            <a:r>
              <a:t>読む結果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856231"/>
            <a:ext cx="1600200" cy="6400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F6690"/>
                </a:solidFill>
                <a:latin typeface="Yu Gothic"/>
              </a:defRPr>
            </a:pPr>
            <a:r>
              <a:t>forward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856231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Loss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1856231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local gradient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856231"/>
            <a:ext cx="1600200" cy="6400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backward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0320" y="2176272"/>
            <a:ext cx="54864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09160" y="2176272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58000" y="2176272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914400" y="2852928"/>
          <a:ext cx="658368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</a:tblGrid>
              <a:tr h="42291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node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formula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z1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x*w1+b1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a1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ReLU(z1)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1.30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0.5*(y-t)^2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8001000" y="2971800"/>
            <a:ext cx="2697480" cy="1078992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500" b="1">
                <a:solidFill>
                  <a:srgbClr val="276749"/>
                </a:solidFill>
                <a:latin typeface="Yu Gothic"/>
              </a:defRPr>
            </a:pPr>
            <a:r>
              <a:t>後ろから順に勾配を掛け合わせる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074920"/>
            <a:ext cx="10378440" cy="566928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400" b="1">
                <a:solidFill>
                  <a:srgbClr val="276749"/>
                </a:solidFill>
                <a:latin typeface="Yu Gothic"/>
              </a:defRPr>
            </a:pPr>
            <a:r>
              <a:t>後ろから順に勾配を掛け合わせる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788152"/>
            <a:ext cx="9875520" cy="2743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ctr">
              <a:defRPr sz="1200" b="0">
                <a:solidFill>
                  <a:srgbClr val="475569"/>
                </a:solidFill>
                <a:latin typeface="Yu Gothic"/>
              </a:defRPr>
            </a:pPr>
            <a:r>
              <a:t>青=入力、黄=途中計算、緑=最終的に読む値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第5回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DEMO ASSET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この回で使う4つのファイル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676656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383280"/>
              </a:tblGrid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ファイル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役割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excel_backpropagation_demo.xlsx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Excel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excel_backpropagation_demo_code.py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計算本体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excel_backpropagation_slides.pptx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解説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README.md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使い方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909560" y="1691640"/>
            <a:ext cx="3246120" cy="123444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800" b="1">
                <a:solidFill>
                  <a:srgbClr val="276749"/>
                </a:solidFill>
                <a:latin typeface="Yu Gothic"/>
              </a:defRPr>
            </a:pPr>
            <a:r>
              <a:t>Excelで入力し、</a:t>
            </a:r>
            <a:br/>
            <a:r>
              <a:t>Pythonで計算する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3429000"/>
            <a:ext cx="3246120" cy="123444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800" b="1">
                <a:solidFill>
                  <a:srgbClr val="2F6690"/>
                </a:solidFill>
                <a:latin typeface="Yu Gothic"/>
              </a:defRPr>
            </a:pPr>
            <a:r>
              <a:t>READMEで</a:t>
            </a:r>
            <a:br/>
            <a:r>
              <a:t>操作手順を確認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864608"/>
            <a:ext cx="10744200" cy="2743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800" b="0">
                <a:solidFill>
                  <a:srgbClr val="2F6690"/>
                </a:solidFill>
                <a:latin typeface="Yu Gothic"/>
              </a:defRPr>
            </a:pPr>
            <a:r>
              <a:t>GitHub: https://github.com/KanameShiga-dev/excel-deep-learning-calculation-demo/tree/main/05_backpropagation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第5回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INPUT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01_INPUT がPythonに渡す値の入口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25880"/>
          <a:ext cx="76809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685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範囲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Python上の表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役割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A6:B7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input_df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forward値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D6:E9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param_df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勾配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G6:I8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settings_df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返す表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595360" y="1508760"/>
            <a:ext cx="2743200" cy="242316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2000" b="1">
                <a:solidFill>
                  <a:srgbClr val="276749"/>
                </a:solidFill>
                <a:latin typeface="Yu Gothic"/>
              </a:defRPr>
            </a:pPr>
            <a:r>
              <a:t>Pythonは</a:t>
            </a:r>
            <a:br/>
            <a:r>
              <a:t>xl(...)</a:t>
            </a:r>
            <a:br/>
            <a:r>
              <a:t>でこの範囲を読む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617720"/>
            <a:ext cx="10241280" cy="640080"/>
          </a:xfrm>
          <a:prstGeom prst="roundRect">
            <a:avLst/>
          </a:prstGeom>
          <a:solidFill>
            <a:srgbClr val="FFF4CC"/>
          </a:solidFill>
          <a:ln w="12700">
            <a:solidFill>
              <a:srgbClr val="E9D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500" b="1">
                <a:solidFill>
                  <a:srgbClr val="24324B"/>
                </a:solidFill>
                <a:latin typeface="Yu Gothic"/>
              </a:defRPr>
            </a:pPr>
            <a:r>
              <a:t>Excelで変更した値が、そのままPythonの計算結果に反映されます。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第5回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EXCEL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どこを変えると、どの表が変わるか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25880"/>
          <a:ext cx="1097280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76581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場所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変更・確認するもの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見える変化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01_INPUT A6:B7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x / 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forward値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01_INPUT D6:E9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w / 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勾配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01_INPUT G6:I8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display_mode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返す表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14400" y="4800600"/>
            <a:ext cx="10241280" cy="59436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500" b="1">
                <a:solidFill>
                  <a:srgbClr val="276749"/>
                </a:solidFill>
                <a:latin typeface="Yu Gothic"/>
              </a:defRPr>
            </a:pPr>
            <a:r>
              <a:t>操作の目的は、値を変えた時の表の変化を読むことです。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第5回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ExcelからPython、そして結果表へ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2011680" cy="9144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F6690"/>
                </a:solidFill>
                <a:latin typeface="Yu Gothic"/>
              </a:defRPr>
            </a:pPr>
            <a:r>
              <a:t>Excel</a:t>
            </a:r>
            <a:br/>
            <a:r>
              <a:t>01_INPUT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600200"/>
            <a:ext cx="2011680" cy="9144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F6690"/>
                </a:solidFill>
                <a:latin typeface="Yu Gothic"/>
              </a:defRPr>
            </a:pPr>
            <a:r>
              <a:t>外部Python</a:t>
            </a:r>
            <a:br/>
            <a:r>
              <a:t>xl(...)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600200"/>
            <a:ext cx="2011680" cy="91440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C77D20"/>
                </a:solidFill>
                <a:latin typeface="Yu Gothic"/>
              </a:defRPr>
            </a:pPr>
            <a:r>
              <a:t>pandas / NumPy</a:t>
            </a:r>
            <a:br/>
            <a:r>
              <a:t>計算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1600200"/>
            <a:ext cx="2011680" cy="91440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76749"/>
                </a:solidFill>
                <a:latin typeface="Yu Gothic"/>
              </a:defRPr>
            </a:pPr>
            <a:r>
              <a:t>result_df</a:t>
            </a:r>
            <a:br/>
            <a:r>
              <a:t>表示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97480" y="2057400"/>
            <a:ext cx="50292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03520" y="2057400"/>
            <a:ext cx="50292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909560" y="2057400"/>
            <a:ext cx="50292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097280" y="3657600"/>
          <a:ext cx="96012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0"/>
                <a:gridCol w="4800600"/>
              </a:tblGrid>
              <a:tr h="3886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表示名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見るもの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forward_trace_df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順伝播の値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backward_trace_df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勾配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e_exam_point_df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確認ポイント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第5回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初期値の結果を表で読む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05840" y="1417320"/>
          <a:ext cx="75895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9840"/>
                <a:gridCol w="2529840"/>
                <a:gridCol w="2529840"/>
              </a:tblGrid>
              <a:tr h="4800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node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formula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z1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x*w1+b1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a1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ReLU(z1)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1.30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0.5*(y-t)^2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0.36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915400" y="1508760"/>
            <a:ext cx="2286000" cy="169164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800" b="1">
                <a:solidFill>
                  <a:srgbClr val="276749"/>
                </a:solidFill>
                <a:latin typeface="Yu Gothic"/>
              </a:defRPr>
            </a:pPr>
            <a:r>
              <a:t>初期値の</a:t>
            </a:r>
            <a:br/>
            <a:r>
              <a:t>結果を読む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4251960"/>
            <a:ext cx="1600200" cy="6400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F6690"/>
                </a:solidFill>
                <a:latin typeface="Yu Gothic"/>
              </a:defRPr>
            </a:pPr>
            <a:r>
              <a:t>forward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4251960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Loss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4251960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local gradient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4251960"/>
            <a:ext cx="1600200" cy="6400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backward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4572000"/>
            <a:ext cx="54864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709160" y="4572000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8000" y="4572000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第5回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RUNBOOK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Python in Excel の実行手順だけを確認する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69494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474720"/>
              </a:tblGrid>
              <a:tr h="5334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Python in Excel のセルを作成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外部 .py を貼り付け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Ctrl + Enter で実行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result_df を確認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display_mode を変えて再実行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046720" y="1600200"/>
            <a:ext cx="3017520" cy="20116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2000" b="1">
                <a:solidFill>
                  <a:srgbClr val="276749"/>
                </a:solidFill>
                <a:latin typeface="Yu Gothic"/>
              </a:defRPr>
            </a:pPr>
            <a:r>
              <a:t>実行後は</a:t>
            </a:r>
            <a:br/>
            <a:r>
              <a:t>result_df を確認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第5回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DISPLAY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display_modeで表示する表を切り替える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17320"/>
          <a:ext cx="85496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9880"/>
                <a:gridCol w="2849880"/>
                <a:gridCol w="2849880"/>
              </a:tblGrid>
              <a:tr h="7200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返す表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読むポイント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forward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forward_trace_df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順伝播の値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backward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backward_trace_df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勾配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exam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e_exam_point_df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確認ポイント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464040" y="1508760"/>
            <a:ext cx="1737360" cy="214884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700" b="1">
                <a:solidFill>
                  <a:srgbClr val="276749"/>
                </a:solidFill>
                <a:latin typeface="Yu Gothic"/>
              </a:defRPr>
            </a:pPr>
            <a:r>
              <a:t>まずは</a:t>
            </a:r>
            <a:br/>
            <a:r>
              <a:t>基本の表</a:t>
            </a:r>
            <a:br/>
            <a:r>
              <a:t>から読む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第5回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HOW TO READ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返却表の列を読む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68580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3429000"/>
              </a:tblGrid>
              <a:tr h="71323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列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意味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node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計算ノード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formula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計算式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forwardの値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loss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正解とのズレ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909560" y="1828800"/>
            <a:ext cx="3154680" cy="21945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700" b="1">
                <a:solidFill>
                  <a:srgbClr val="2F6690"/>
                </a:solidFill>
                <a:latin typeface="Yu Gothic"/>
              </a:defRPr>
            </a:pPr>
            <a:r>
              <a:t>列名を</a:t>
            </a:r>
            <a:br/>
            <a:r>
              <a:t>計算の役割に</a:t>
            </a:r>
            <a:br/>
            <a:r>
              <a:t>対応づける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第5回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HOW TO READ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設定を変えた時の差を見る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68580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3429000"/>
              </a:tblGrid>
              <a:tr h="71323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列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意味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gradient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どの微分か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dL/dy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出力への勾配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dL/dw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重みへの勾配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relu_gate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勾配を通すか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909560" y="1828800"/>
            <a:ext cx="3154680" cy="219456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700" b="1">
                <a:solidFill>
                  <a:srgbClr val="276749"/>
                </a:solidFill>
                <a:latin typeface="Yu Gothic"/>
              </a:defRPr>
            </a:pPr>
            <a:r>
              <a:t>設定を変えたら</a:t>
            </a:r>
            <a:br/>
            <a:r>
              <a:t>どの列が動くかを</a:t>
            </a:r>
            <a:br/>
            <a:r>
              <a:t>見る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第5回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CONNECTION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前後の回とのつながり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" y="1508760"/>
            <a:ext cx="1600200" cy="6400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F6690"/>
                </a:solidFill>
                <a:latin typeface="Yu Gothic"/>
              </a:defRPr>
            </a:pPr>
            <a:r>
              <a:t>forward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1508760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Loss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7800" y="1508760"/>
            <a:ext cx="1600200" cy="64008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C77D20"/>
                </a:solidFill>
                <a:latin typeface="Yu Gothic"/>
              </a:defRPr>
            </a:pPr>
            <a:r>
              <a:t>local gradient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508760"/>
            <a:ext cx="1600200" cy="64008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300" b="1">
                <a:solidFill>
                  <a:srgbClr val="276749"/>
                </a:solidFill>
                <a:latin typeface="Yu Gothic"/>
              </a:defRPr>
            </a:pPr>
            <a:r>
              <a:t>backward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60320" y="1828800"/>
            <a:ext cx="54864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709160" y="1828800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0" y="1828800"/>
            <a:ext cx="548640" cy="0"/>
          </a:xfrm>
          <a:prstGeom prst="line">
            <a:avLst/>
          </a:prstGeom>
          <a:ln w="27940">
            <a:solidFill>
              <a:srgbClr val="C77D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4400" y="3703320"/>
            <a:ext cx="3108960" cy="91440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400" b="1">
                <a:solidFill>
                  <a:srgbClr val="276749"/>
                </a:solidFill>
                <a:latin typeface="Yu Gothic"/>
              </a:defRPr>
            </a:pPr>
            <a:r>
              <a:t>第4回のgradientを各パラメータへ分解する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69080" y="4160520"/>
            <a:ext cx="45720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72000" y="3703320"/>
            <a:ext cx="3108960" cy="9144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400" b="1">
                <a:solidFill>
                  <a:srgbClr val="24324B"/>
                </a:solidFill>
                <a:latin typeface="Yu Gothic"/>
              </a:defRPr>
            </a:pPr>
            <a:r>
              <a:t>Chain Ruleで後ろから前へ戻る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26679" y="4160520"/>
            <a:ext cx="457200" cy="0"/>
          </a:xfrm>
          <a:prstGeom prst="line">
            <a:avLst/>
          </a:prstGeom>
          <a:ln w="27940">
            <a:solidFill>
              <a:srgbClr val="2F66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29600" y="3703320"/>
            <a:ext cx="3108960" cy="914400"/>
          </a:xfrm>
          <a:prstGeom prst="roundRect">
            <a:avLst/>
          </a:prstGeom>
          <a:solidFill>
            <a:srgbClr val="F7F4E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400" b="1">
                <a:solidFill>
                  <a:srgbClr val="24324B"/>
                </a:solidFill>
                <a:latin typeface="Yu Gothic"/>
              </a:defRPr>
            </a:pPr>
            <a:r>
              <a:t>第6回で勾配の使い方を比較する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第5回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LIMITATION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小さな表で扱う範囲を確認する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417320"/>
          <a:ext cx="8778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4389120"/>
              </a:tblGrid>
              <a:tr h="5943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この教材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実モデル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1層の小さな例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多数層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ReLUだけ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複数の演算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勾配を表で確認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自動微分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097280" y="4389120"/>
            <a:ext cx="9509760" cy="777240"/>
          </a:xfrm>
          <a:prstGeom prst="roundRect">
            <a:avLst/>
          </a:prstGeom>
          <a:solidFill>
            <a:srgbClr val="FFF4CC"/>
          </a:solidFill>
          <a:ln w="12700">
            <a:solidFill>
              <a:srgbClr val="E9D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600" b="1">
                <a:solidFill>
                  <a:srgbClr val="24324B"/>
                </a:solidFill>
                <a:latin typeface="Yu Gothic"/>
              </a:defRPr>
            </a:pPr>
            <a:r>
              <a:t>小さくしているのは、式と表の対応を見失わないためです。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第5回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式、Excel、Pythonの対応を押さえる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3200400" cy="18288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B7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900" b="1">
                <a:solidFill>
                  <a:srgbClr val="2F6690"/>
                </a:solidFill>
                <a:latin typeface="Yu Gothic"/>
              </a:defRPr>
            </a:pPr>
            <a:r>
              <a:t>1</a:t>
            </a:r>
            <a:br/>
            <a:r>
              <a:t>forward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59" y="1417320"/>
            <a:ext cx="3200400" cy="182880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1C2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900" b="1">
                <a:solidFill>
                  <a:srgbClr val="C77D20"/>
                </a:solidFill>
                <a:latin typeface="Yu Gothic"/>
              </a:defRPr>
            </a:pPr>
            <a:r>
              <a:t>2</a:t>
            </a:r>
            <a:br/>
            <a:r>
              <a:t>Loss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1417320"/>
            <a:ext cx="3200400" cy="1828800"/>
          </a:xfrm>
          <a:prstGeom prst="roundRect">
            <a:avLst/>
          </a:prstGeom>
          <a:solidFill>
            <a:srgbClr val="EEF8F1"/>
          </a:solidFill>
          <a:ln w="12700">
            <a:solidFill>
              <a:srgbClr val="B7E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bIns="36576"/>
          <a:lstStyle/>
          <a:p>
            <a:pPr algn="ctr">
              <a:defRPr sz="1900" b="1">
                <a:solidFill>
                  <a:srgbClr val="276749"/>
                </a:solidFill>
                <a:latin typeface="Yu Gothic"/>
              </a:defRPr>
            </a:pPr>
            <a:r>
              <a:t>3</a:t>
            </a:r>
            <a:br/>
            <a:r>
              <a:t>local gradient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1005840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ctr">
              <a:defRPr sz="1800" b="1">
                <a:solidFill>
                  <a:srgbClr val="24324B"/>
                </a:solidFill>
                <a:latin typeface="Yu Gothic"/>
              </a:defRPr>
            </a:pPr>
            <a:r>
              <a:t>forwardからbackwardまで小さなネットワークで追う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第5回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1000" b="1">
                <a:solidFill>
                  <a:srgbClr val="2F6690"/>
                </a:solidFill>
                <a:latin typeface="Yu Gothic"/>
              </a:defRPr>
            </a:pPr>
            <a:r>
              <a:t>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789920" cy="502920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l">
              <a:defRPr sz="2500" b="1">
                <a:solidFill>
                  <a:srgbClr val="24324B"/>
                </a:solidFill>
                <a:latin typeface="Yu Gothic"/>
              </a:defRPr>
            </a:pPr>
            <a:r>
              <a:t>この回の用語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280160"/>
          <a:ext cx="106070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303520"/>
              </a:tblGrid>
              <a:tr h="61395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用語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意味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forward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前向き計算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backward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後ろ向き計算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local gradient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局所的な勾配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Chain Rule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連鎖律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forward_trace_df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順伝播表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backward_trace_df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4324B"/>
                          </a:solidFill>
                          <a:latin typeface="Yu Gothic"/>
                        </a:defRPr>
                      </a:pPr>
                      <a:r>
                        <a:t>逆伝播表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73952"/>
            <a:ext cx="11109960" cy="201168"/>
          </a:xfrm>
          <a:prstGeom prst="rect">
            <a:avLst/>
          </a:prstGeom>
          <a:noFill/>
        </p:spPr>
        <p:txBody>
          <a:bodyPr wrap="square" bIns="36576" anchor="ctr">
            <a:spAutoFit/>
          </a:bodyPr>
          <a:lstStyle/>
          <a:p>
            <a:pPr algn="r">
              <a:defRPr sz="900" b="0">
                <a:solidFill>
                  <a:srgbClr val="475569"/>
                </a:solidFill>
                <a:latin typeface="Yu Gothic"/>
              </a:defRPr>
            </a:pPr>
            <a:r>
              <a:t>Excelで体験するディープラーニングの計算しくみ | 第5回 |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