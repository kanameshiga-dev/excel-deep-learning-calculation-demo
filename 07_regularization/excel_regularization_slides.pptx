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過学習と正則化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207008"/>
            <a:ext cx="6675120" cy="38404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900" b="1">
                <a:solidFill>
                  <a:srgbClr val="2F6690"/>
                </a:solidFill>
                <a:latin typeface="Yu Gothic"/>
              </a:defRPr>
            </a:pPr>
            <a:r>
              <a:t>Excelで体験するディープラーニングの計算しくみ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5943600" cy="7132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3600" b="1">
                <a:solidFill>
                  <a:srgbClr val="24324B"/>
                </a:solidFill>
                <a:latin typeface="Yu Gothic"/>
              </a:defRPr>
            </a:pPr>
            <a:r>
              <a:t>第7回 過学習と正則化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487168"/>
            <a:ext cx="5715000" cy="38404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475569"/>
                </a:solidFill>
                <a:latin typeface="Yu Gothic"/>
              </a:defRPr>
            </a:pPr>
            <a:r>
              <a:t>訓練Lossと検証Loss、正則化項、停止判定を見る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234440"/>
            <a:ext cx="288036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Excelで入力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057400"/>
            <a:ext cx="2880360" cy="566928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C77D20"/>
                </a:solidFill>
                <a:latin typeface="Yu Gothic"/>
              </a:defRPr>
            </a:pPr>
            <a:r>
              <a:t>Pythonで計算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880360"/>
            <a:ext cx="2880360" cy="566928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76749"/>
                </a:solidFill>
                <a:latin typeface="Yu Gothic"/>
              </a:defRPr>
            </a:pPr>
            <a:r>
              <a:t>表で結果を読む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79408" y="1810512"/>
            <a:ext cx="0" cy="201168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79408" y="2633472"/>
            <a:ext cx="0" cy="201168"/>
          </a:xfrm>
          <a:prstGeom prst="line">
            <a:avLst/>
          </a:prstGeom>
          <a:ln w="27940">
            <a:solidFill>
              <a:srgbClr val="2767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60120" y="4315968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train loss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4315968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valid loss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4315968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4315968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対策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60320" y="4636007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09160" y="4636007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858000" y="4636007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15568" y="5504688"/>
            <a:ext cx="978408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ctr">
              <a:defRPr sz="1200" b="0">
                <a:solidFill>
                  <a:srgbClr val="475569"/>
                </a:solidFill>
                <a:latin typeface="Yu Gothic"/>
              </a:defRPr>
            </a:pPr>
            <a:r>
              <a:t>青=入力、黄=途中計算、緑=出力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第7回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SERIES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最初の計算から応用の形へつなげる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1</a:t>
            </a:r>
            <a:br/>
            <a:r>
              <a:t>線形変換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39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2</a:t>
            </a:r>
            <a:br/>
            <a:r>
              <a:t>活性化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66359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3</a:t>
            </a:r>
            <a:br/>
            <a:r>
              <a:t>損失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4</a:t>
            </a:r>
            <a:br/>
            <a:r>
              <a:t>勾配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29800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5</a:t>
            </a:r>
            <a:br/>
            <a:r>
              <a:t>逆伝播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6</a:t>
            </a:r>
            <a:br/>
            <a:r>
              <a:t>最適化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39" y="2834640"/>
            <a:ext cx="1965960" cy="7772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7</a:t>
            </a:r>
            <a:br/>
            <a:r>
              <a:t>正則化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59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8</a:t>
            </a:r>
            <a:br/>
            <a:r>
              <a:t>CNN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9</a:t>
            </a:r>
            <a:br/>
            <a:r>
              <a:t>RNN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29800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10</a:t>
            </a:r>
            <a:br/>
            <a:r>
              <a:t>Attention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645152"/>
            <a:ext cx="10469880" cy="713232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4324B"/>
                </a:solidFill>
                <a:latin typeface="Yu Gothic"/>
              </a:defRPr>
            </a:pPr>
            <a:r>
              <a:t>訓練だけでなく検証の動きも見る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第7回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訓練Lossと検証Loss、正則化項、停止判定を見る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4324B"/>
                </a:solidFill>
                <a:latin typeface="Yu Gothic"/>
              </a:defRPr>
            </a:pPr>
            <a:r>
              <a:t>• 訓練Lossと検証Loss、正則化項、停止判定を見る</a:t>
            </a:r>
          </a:p>
          <a:p>
            <a:pPr>
              <a:spcAft>
                <a:spcPts val="800"/>
              </a:spcAft>
              <a:defRPr sz="1600">
                <a:solidFill>
                  <a:srgbClr val="24324B"/>
                </a:solidFill>
                <a:latin typeface="Yu Gothic"/>
              </a:defRPr>
            </a:pPr>
            <a:r>
              <a:t>• Excel上の値や設定を変更する</a:t>
            </a:r>
          </a:p>
          <a:p>
            <a:pPr>
              <a:spcAft>
                <a:spcPts val="800"/>
              </a:spcAft>
              <a:defRPr sz="1600">
                <a:solidFill>
                  <a:srgbClr val="24324B"/>
                </a:solidFill>
                <a:latin typeface="Yu Gothic"/>
              </a:defRPr>
            </a:pPr>
            <a:r>
              <a:t>• PythonがWorkbookから読み直して計算する</a:t>
            </a:r>
          </a:p>
          <a:p>
            <a:pPr>
              <a:spcAft>
                <a:spcPts val="800"/>
              </a:spcAft>
              <a:defRPr sz="1600">
                <a:solidFill>
                  <a:srgbClr val="24324B"/>
                </a:solidFill>
                <a:latin typeface="Yu Gothic"/>
              </a:defRPr>
            </a:pPr>
            <a:r>
              <a:t>• 返却表の列を見て変化を確認する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353312"/>
            <a:ext cx="4663440" cy="13716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2F6690"/>
                </a:solidFill>
                <a:latin typeface="Yu Gothic"/>
              </a:defRPr>
            </a:pPr>
            <a:r>
              <a:t>過学習と正則化とは</a:t>
            </a:r>
            <a:br/>
            <a:br/>
            <a:r>
              <a:t>過学習とは、訓練データには合うのに未知のデータへ弱くなる状態です。正則化はそれを抑えるための工夫です。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999232"/>
            <a:ext cx="4663440" cy="1261872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500" b="1">
                <a:solidFill>
                  <a:srgbClr val="276749"/>
                </a:solidFill>
                <a:latin typeface="Yu Gothic"/>
              </a:defRPr>
            </a:pPr>
            <a:r>
              <a:t>見える変化</a:t>
            </a:r>
            <a:br/>
            <a:br/>
            <a:r>
              <a:t>train / valid loss</a:t>
            </a:r>
            <a:br/>
            <a:r>
              <a:t>gap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5102352"/>
            <a:ext cx="1481328" cy="512064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2F6690"/>
                </a:solidFill>
                <a:latin typeface="Yu Gothic"/>
              </a:defRPr>
            </a:pPr>
            <a:r>
              <a:t>train loss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90672" y="5102352"/>
            <a:ext cx="1481328" cy="512064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C77D20"/>
                </a:solidFill>
                <a:latin typeface="Yu Gothic"/>
              </a:defRPr>
            </a:pPr>
            <a:r>
              <a:t>valid loss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75504" y="5102352"/>
            <a:ext cx="1481328" cy="512064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C77D20"/>
                </a:solidFill>
                <a:latin typeface="Yu Gothic"/>
              </a:defRPr>
            </a:pPr>
            <a:r>
              <a:t>gap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0336" y="5102352"/>
            <a:ext cx="1481328" cy="512064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276749"/>
                </a:solidFill>
                <a:latin typeface="Yu Gothic"/>
              </a:defRPr>
            </a:pPr>
            <a:r>
              <a:t>対策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87168" y="5358384"/>
            <a:ext cx="603504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572000" y="5358384"/>
            <a:ext cx="603504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56832" y="5358384"/>
            <a:ext cx="603504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第7回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過学習と正則化の計算を図で見る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207008"/>
            <a:ext cx="365760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2F6690"/>
                </a:solidFill>
                <a:latin typeface="Yu Gothic"/>
              </a:defRPr>
            </a:pPr>
            <a:r>
              <a:t>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7639" y="1207008"/>
            <a:ext cx="365760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C77D20"/>
                </a:solidFill>
                <a:latin typeface="Yu Gothic"/>
              </a:defRPr>
            </a:pPr>
            <a:r>
              <a:t>計算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9248" y="1207008"/>
            <a:ext cx="310896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276749"/>
                </a:solidFill>
                <a:latin typeface="Yu Gothic"/>
              </a:defRPr>
            </a:pPr>
            <a:r>
              <a:t>読む結果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1856231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train loss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1856231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valid loss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856231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gap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856231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対策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2176272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09160" y="2176272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58000" y="2176272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14400" y="2852928"/>
          <a:ext cx="658368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</a:tblGrid>
              <a:tr h="4229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epoch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train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valid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0.45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0.62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8001000" y="2971800"/>
            <a:ext cx="2697480" cy="1078992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500" b="1">
                <a:solidFill>
                  <a:srgbClr val="276749"/>
                </a:solidFill>
                <a:latin typeface="Yu Gothic"/>
              </a:defRPr>
            </a:pPr>
            <a:r>
              <a:t>訓練だけでなく検証の動きも見る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5074920"/>
            <a:ext cx="10378440" cy="566928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76749"/>
                </a:solidFill>
                <a:latin typeface="Yu Gothic"/>
              </a:defRPr>
            </a:pPr>
            <a:r>
              <a:t>訓練だけでなく検証の動きも見る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788152"/>
            <a:ext cx="987552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ctr">
              <a:defRPr sz="1200" b="0">
                <a:solidFill>
                  <a:srgbClr val="475569"/>
                </a:solidFill>
                <a:latin typeface="Yu Gothic"/>
              </a:defRPr>
            </a:pPr>
            <a:r>
              <a:t>青=入力、黄=途中計算、緑=最終的に読む値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第7回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DEMO ASSET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この回で使う4つのファイル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7665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383280"/>
              </a:tblGrid>
              <a:tr h="5943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ファイル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excel_regularization_demo.xlsx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excel_regularization_demo_code.py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計算本体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excel_regularization_slides.pptx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解説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README.md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使い方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691640"/>
            <a:ext cx="3246120" cy="12344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800" b="1">
                <a:solidFill>
                  <a:srgbClr val="276749"/>
                </a:solidFill>
                <a:latin typeface="Yu Gothic"/>
              </a:defRPr>
            </a:pPr>
            <a:r>
              <a:t>Excelで入力し、</a:t>
            </a:r>
            <a:br/>
            <a:r>
              <a:t>Pythonで計算する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9560" y="3429000"/>
            <a:ext cx="3246120" cy="123444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800" b="1">
                <a:solidFill>
                  <a:srgbClr val="2F6690"/>
                </a:solidFill>
                <a:latin typeface="Yu Gothic"/>
              </a:defRPr>
            </a:pPr>
            <a:r>
              <a:t>READMEで</a:t>
            </a:r>
            <a:br/>
            <a:r>
              <a:t>操作手順を確認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864608"/>
            <a:ext cx="1074420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800" b="0">
                <a:solidFill>
                  <a:srgbClr val="2F6690"/>
                </a:solidFill>
                <a:latin typeface="Yu Gothic"/>
              </a:defRPr>
            </a:pPr>
            <a:r>
              <a:t>GitHub: https://github.com/KanameShiga-dev/excel-deep-learning-calculation-demo/tree/main/07_regularization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第7回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INPUT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01_INPUT がPythonに渡す値の入口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325880"/>
          <a:ext cx="7680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範囲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Python上の表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A6:C11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loss_log_df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E6:F9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weight_df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正則化項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H6:J10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settings_df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停止判定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595360" y="1508760"/>
            <a:ext cx="2743200" cy="24231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2000" b="1">
                <a:solidFill>
                  <a:srgbClr val="276749"/>
                </a:solidFill>
                <a:latin typeface="Yu Gothic"/>
              </a:defRPr>
            </a:pPr>
            <a:r>
              <a:t>Pythonは</a:t>
            </a:r>
            <a:br/>
            <a:r>
              <a:t>xl(...)</a:t>
            </a:r>
            <a:br/>
            <a:r>
              <a:t>でこの範囲を読む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617720"/>
            <a:ext cx="10241280" cy="640080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500" b="1">
                <a:solidFill>
                  <a:srgbClr val="24324B"/>
                </a:solidFill>
                <a:latin typeface="Yu Gothic"/>
              </a:defRPr>
            </a:pPr>
            <a:r>
              <a:t>Excelで変更した値が、そのままPythonの計算結果に反映されます。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第7回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EXCEL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どこを変えると、どの表が変わるか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325880"/>
          <a:ext cx="1097280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76581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658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01_INPUT A6:C11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train / valid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58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01_INPUT E6:F9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weight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正則化項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658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01_INPUT H6:J10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lambda / patience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停止判定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4800600"/>
            <a:ext cx="10241280" cy="5943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500" b="1">
                <a:solidFill>
                  <a:srgbClr val="276749"/>
                </a:solidFill>
                <a:latin typeface="Yu Gothic"/>
              </a:defRPr>
            </a:pPr>
            <a:r>
              <a:t>操作の目的は、値を変えた時の表の変化を読むことです。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第7回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ExcelからPython、そして結果表へ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201168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Excel</a:t>
            </a:r>
            <a:br/>
            <a:r>
              <a:t>01_INPUT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600200"/>
            <a:ext cx="201168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外部Python</a:t>
            </a:r>
            <a:br/>
            <a:r>
              <a:t>xl(...)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600200"/>
            <a:ext cx="2011680" cy="91440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C77D20"/>
                </a:solidFill>
                <a:latin typeface="Yu Gothic"/>
              </a:defRPr>
            </a:pPr>
            <a:r>
              <a:t>pandas / NumPy</a:t>
            </a:r>
            <a:br/>
            <a:r>
              <a:t>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1600200"/>
            <a:ext cx="2011680" cy="9144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76749"/>
                </a:solidFill>
                <a:latin typeface="Yu Gothic"/>
              </a:defRPr>
            </a:pPr>
            <a:r>
              <a:t>result_df</a:t>
            </a:r>
            <a:br/>
            <a:r>
              <a:t>表示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9748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30352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0956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97280" y="3657600"/>
          <a:ext cx="9601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/>
                <a:gridCol w="4800600"/>
              </a:tblGrid>
              <a:tr h="3886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表示名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見るもの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loss_log_df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Loss推移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regularization_df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正則化項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e_exam_point_df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確認ポイント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第7回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初期値の結果を表で読む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5840" y="1417320"/>
          <a:ext cx="75895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</a:tblGrid>
              <a:tr h="4800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epoch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train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valid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0.45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0.62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915400" y="1508760"/>
            <a:ext cx="2286000" cy="16916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800" b="1">
                <a:solidFill>
                  <a:srgbClr val="276749"/>
                </a:solidFill>
                <a:latin typeface="Yu Gothic"/>
              </a:defRPr>
            </a:pPr>
            <a:r>
              <a:t>初期値の</a:t>
            </a:r>
            <a:br/>
            <a:r>
              <a:t>結果を読む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251960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train loss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42519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valid loss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42519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gap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4251960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対策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4572000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09160" y="45720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858000" y="45720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第7回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RUNBOOK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Python in Excel の実行手順だけを確認する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9494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474720"/>
              </a:tblGrid>
              <a:tr h="5334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Python in Excel のセルを作成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外部 .py を貼り付け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Ctrl + Enter で実行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result_df を確認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display_mode を変えて再実行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046720" y="1600200"/>
            <a:ext cx="3017520" cy="20116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2000" b="1">
                <a:solidFill>
                  <a:srgbClr val="276749"/>
                </a:solidFill>
                <a:latin typeface="Yu Gothic"/>
              </a:defRPr>
            </a:pPr>
            <a:r>
              <a:t>実行後は</a:t>
            </a:r>
            <a:br/>
            <a:r>
              <a:t>result_df を確認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第7回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DISPLAY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display_modeで表示する表を切り替える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85496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9880"/>
                <a:gridCol w="2849880"/>
                <a:gridCol w="2849880"/>
              </a:tblGrid>
              <a:tr h="7200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返す表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読むポイント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200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loss_log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loss_log_df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Loss推移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200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regularization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regularization_df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正則化項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200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e_exam_point_df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確認ポイント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464040" y="1508760"/>
            <a:ext cx="1737360" cy="21488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700" b="1">
                <a:solidFill>
                  <a:srgbClr val="276749"/>
                </a:solidFill>
                <a:latin typeface="Yu Gothic"/>
              </a:defRPr>
            </a:pPr>
            <a:r>
              <a:t>まずは</a:t>
            </a:r>
            <a:br/>
            <a:r>
              <a:t>基本の表</a:t>
            </a:r>
            <a:br/>
            <a:r>
              <a:t>から読む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第7回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HOW TO READ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返却表の列を読む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858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7132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train_loss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訓練データのLoss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valid_loss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検証データのLoss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汎化ギャップ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early_stop_flag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停止候補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828800"/>
            <a:ext cx="3154680" cy="219456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700" b="1">
                <a:solidFill>
                  <a:srgbClr val="2F6690"/>
                </a:solidFill>
                <a:latin typeface="Yu Gothic"/>
              </a:defRPr>
            </a:pPr>
            <a:r>
              <a:t>列名を</a:t>
            </a:r>
            <a:br/>
            <a:r>
              <a:t>計算の役割に</a:t>
            </a:r>
            <a:br/>
            <a:r>
              <a:t>対応づける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第7回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HOW TO READ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設定を変えた時の差を見る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858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7132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重み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l1_penalty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絶対値に比例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l2_penalty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二乗に比例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patience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待つ回数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828800"/>
            <a:ext cx="3154680" cy="21945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700" b="1">
                <a:solidFill>
                  <a:srgbClr val="276749"/>
                </a:solidFill>
                <a:latin typeface="Yu Gothic"/>
              </a:defRPr>
            </a:pPr>
            <a:r>
              <a:t>設定を変えたら</a:t>
            </a:r>
            <a:br/>
            <a:r>
              <a:t>どの列が動くかを</a:t>
            </a:r>
            <a:br/>
            <a:r>
              <a:t>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第7回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前後の回とのつながり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" y="1508760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train loss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15087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valid loss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7800" y="15087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gap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508760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対策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60320" y="1828800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709160" y="18288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0" y="18288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14400" y="3703320"/>
            <a:ext cx="3108960" cy="9144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76749"/>
                </a:solidFill>
                <a:latin typeface="Yu Gothic"/>
              </a:defRPr>
            </a:pPr>
            <a:r>
              <a:t>第6回まででLossを下げる方法を見た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69080" y="4160520"/>
            <a:ext cx="45720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572000" y="3703320"/>
            <a:ext cx="310896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4324B"/>
                </a:solidFill>
                <a:latin typeface="Yu Gothic"/>
              </a:defRPr>
            </a:pPr>
            <a:r>
              <a:t>ここでは下げすぎによる過学習を見る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26679" y="4160520"/>
            <a:ext cx="45720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0" y="3703320"/>
            <a:ext cx="3108960" cy="914400"/>
          </a:xfrm>
          <a:prstGeom prst="roundRect">
            <a:avLst/>
          </a:prstGeom>
          <a:solidFill>
            <a:srgbClr val="F7F4E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4324B"/>
                </a:solidFill>
                <a:latin typeface="Yu Gothic"/>
              </a:defRPr>
            </a:pPr>
            <a:r>
              <a:t>第8回から構造別のモデルへ進む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第7回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小さな表で扱う範囲を確認する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17320"/>
          <a:ext cx="8778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4389120"/>
              </a:tblGrid>
              <a:tr h="5943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この教材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実モデル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Lossログを小さく表示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長い学習履歴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L1/L2中心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Dropoutなども併用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停止判定を単純化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実運用は監視が必要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097280" y="4389120"/>
            <a:ext cx="9509760" cy="777240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4324B"/>
                </a:solidFill>
                <a:latin typeface="Yu Gothic"/>
              </a:defRPr>
            </a:pPr>
            <a:r>
              <a:t>小さくしているのは、式と表の対応を見失わないためです。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第7回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式、Excel、Pythonの対応を押さえる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417320"/>
            <a:ext cx="3200400" cy="18288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2F6690"/>
                </a:solidFill>
                <a:latin typeface="Yu Gothic"/>
              </a:defRPr>
            </a:pPr>
            <a:r>
              <a:t>1</a:t>
            </a:r>
            <a:br/>
            <a:r>
              <a:t>train loss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59" y="1417320"/>
            <a:ext cx="3200400" cy="182880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C77D20"/>
                </a:solidFill>
                <a:latin typeface="Yu Gothic"/>
              </a:defRPr>
            </a:pPr>
            <a:r>
              <a:t>2</a:t>
            </a:r>
            <a:br/>
            <a:r>
              <a:t>valid loss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417320"/>
            <a:ext cx="3200400" cy="18288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276749"/>
                </a:solidFill>
                <a:latin typeface="Yu Gothic"/>
              </a:defRPr>
            </a:pPr>
            <a:r>
              <a:t>3</a:t>
            </a:r>
            <a:br/>
            <a:r>
              <a:t>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005840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ctr">
              <a:defRPr sz="1800" b="1">
                <a:solidFill>
                  <a:srgbClr val="24324B"/>
                </a:solidFill>
                <a:latin typeface="Yu Gothic"/>
              </a:defRPr>
            </a:pPr>
            <a:r>
              <a:t>訓練Lossと検証Loss、正則化項、停止判定を見る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第7回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この回の用語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280160"/>
          <a:ext cx="1060704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61395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train_loss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訓練Loss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valid_loss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検証Loss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差分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L1 / L2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正則化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early_stop_flag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停止候補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regularization_df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正則化表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第7回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