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Attention / Transformer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207008"/>
            <a:ext cx="6675120" cy="38404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900" b="1">
                <a:solidFill>
                  <a:srgbClr val="2F6690"/>
                </a:solidFill>
                <a:latin typeface="Yu Gothic"/>
              </a:defRPr>
            </a:pPr>
            <a:r>
              <a:t>Excelで体験するディープラーニングの計算しくみ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5943600" cy="7132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3600" b="1">
                <a:solidFill>
                  <a:srgbClr val="24324B"/>
                </a:solidFill>
                <a:latin typeface="Yu Gothic"/>
              </a:defRPr>
            </a:pPr>
            <a:r>
              <a:t>第10回 Attention / Transformer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87168"/>
            <a:ext cx="5715000" cy="38404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475569"/>
                </a:solidFill>
                <a:latin typeface="Yu Gothic"/>
              </a:defRPr>
            </a:pPr>
            <a:r>
              <a:t>Q/K/V、score、Softmax、Attention weightを総復習する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234440"/>
            <a:ext cx="2880360" cy="566928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Excelで入力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057400"/>
            <a:ext cx="2880360" cy="566928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C77D20"/>
                </a:solidFill>
                <a:latin typeface="Yu Gothic"/>
              </a:defRPr>
            </a:pPr>
            <a:r>
              <a:t>Pythonで計算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880360"/>
            <a:ext cx="2880360" cy="566928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76749"/>
                </a:solidFill>
                <a:latin typeface="Yu Gothic"/>
              </a:defRPr>
            </a:pPr>
            <a:r>
              <a:t>表で結果を読む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79408" y="1810512"/>
            <a:ext cx="0" cy="201168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79408" y="2633472"/>
            <a:ext cx="0" cy="201168"/>
          </a:xfrm>
          <a:prstGeom prst="line">
            <a:avLst/>
          </a:prstGeom>
          <a:ln w="27940">
            <a:solidFill>
              <a:srgbClr val="2767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0120" y="4315968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4315968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4315968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4315968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weight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4315968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V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60320" y="4636007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709160" y="4636007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4636007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06840" y="4636007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15568" y="5504688"/>
            <a:ext cx="978408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青=入力、黄=途中計算、緑=出力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第10回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SERIES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最初の計算から応用の形へつなげる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1</a:t>
            </a:r>
            <a:br/>
            <a:r>
              <a:t>線形変換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3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2</a:t>
            </a:r>
            <a:br/>
            <a:r>
              <a:t>活性化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5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3</a:t>
            </a:r>
            <a:br/>
            <a:r>
              <a:t>損失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4</a:t>
            </a:r>
            <a:br/>
            <a:r>
              <a:t>勾配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5</a:t>
            </a:r>
            <a:br/>
            <a:r>
              <a:t>逆伝播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6</a:t>
            </a:r>
            <a:br/>
            <a:r>
              <a:t>最適化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7</a:t>
            </a:r>
            <a:br/>
            <a:r>
              <a:t>正則化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5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8</a:t>
            </a:r>
            <a:br/>
            <a:r>
              <a:t>CNN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9</a:t>
            </a:r>
            <a:br/>
            <a:r>
              <a:t>RNN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2834640"/>
            <a:ext cx="1965960" cy="7772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10</a:t>
            </a:r>
            <a:br/>
            <a:r>
              <a:t>Attention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645152"/>
            <a:ext cx="10469880" cy="713232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4324B"/>
                </a:solidFill>
                <a:latin typeface="Yu Gothic"/>
              </a:defRPr>
            </a:pPr>
            <a:r>
              <a:t>どの情報を見るかを重みとして計算する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第10回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Q/K/V、score、Softmax、Attention weightを総復習する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Q/K/V、score、Softmax、Attention weightを総復習する</a:t>
            </a:r>
          </a:p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Excel上の値や設定を変更する</a:t>
            </a:r>
          </a:p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PythonがWorkbookから読み直して計算する</a:t>
            </a:r>
          </a:p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返却表の列を見て変化を確認する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353312"/>
            <a:ext cx="4663440" cy="13716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F6690"/>
                </a:solidFill>
                <a:latin typeface="Yu Gothic"/>
              </a:defRPr>
            </a:pPr>
            <a:r>
              <a:t>Attention / Transformerとは</a:t>
            </a:r>
            <a:br/>
            <a:br/>
            <a:r>
              <a:t>Attentionとは、入力同士の関係を重みとして計算し、必要な情報を選んで集める仕組みです。Transformerの中心部品です。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999232"/>
            <a:ext cx="4663440" cy="1261872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見える変化</a:t>
            </a:r>
            <a:br/>
            <a:br/>
            <a:r>
              <a:t>token vectors</a:t>
            </a:r>
            <a:br/>
            <a:r>
              <a:t>Q/K/V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5102352"/>
            <a:ext cx="1481328" cy="512064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F6690"/>
                </a:solidFill>
                <a:latin typeface="Yu Gothic"/>
              </a:defRPr>
            </a:pPr>
            <a:r>
              <a:t>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90672" y="5102352"/>
            <a:ext cx="1481328" cy="512064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C77D20"/>
                </a:solidFill>
                <a:latin typeface="Yu Gothic"/>
              </a:defRPr>
            </a:pPr>
            <a:r>
              <a:t>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5504" y="5102352"/>
            <a:ext cx="1481328" cy="512064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C77D20"/>
                </a:solidFill>
                <a:latin typeface="Yu Gothic"/>
              </a:defRPr>
            </a:pPr>
            <a:r>
              <a:t>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5102352"/>
            <a:ext cx="1481328" cy="512064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76749"/>
                </a:solidFill>
                <a:latin typeface="Yu Gothic"/>
              </a:defRPr>
            </a:pPr>
            <a:r>
              <a:t>weight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45167" y="5102352"/>
            <a:ext cx="1481328" cy="512064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76749"/>
                </a:solidFill>
                <a:latin typeface="Yu Gothic"/>
              </a:defRPr>
            </a:pPr>
            <a:r>
              <a:t>V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87168" y="5358384"/>
            <a:ext cx="603504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0" y="5358384"/>
            <a:ext cx="603504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56832" y="5358384"/>
            <a:ext cx="603504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741663" y="5358384"/>
            <a:ext cx="603504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第10回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Attention / Transformerの計算を図で見る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07008"/>
            <a:ext cx="365760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2F6690"/>
                </a:solidFill>
                <a:latin typeface="Yu Gothic"/>
              </a:defRPr>
            </a:pPr>
            <a:r>
              <a:t>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1207008"/>
            <a:ext cx="365760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C77D20"/>
                </a:solidFill>
                <a:latin typeface="Yu Gothic"/>
              </a:defRPr>
            </a:pPr>
            <a:r>
              <a:t>計算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9248" y="1207008"/>
            <a:ext cx="310896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読む結果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856231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856231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856231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856231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weight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1856231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V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2176272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09160" y="2176272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58000" y="2176272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06840" y="2176272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005840" y="2880360"/>
          <a:ext cx="64922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060"/>
                <a:gridCol w="1623060"/>
                <a:gridCol w="1623060"/>
                <a:gridCol w="1623060"/>
              </a:tblGrid>
              <a:tr h="3886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query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0.21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8001000" y="2944368"/>
            <a:ext cx="2560320" cy="118872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700" b="1">
                <a:solidFill>
                  <a:srgbClr val="276749"/>
                </a:solidFill>
                <a:latin typeface="Yu Gothic"/>
              </a:defRPr>
            </a:pPr>
            <a:r>
              <a:t>weightで</a:t>
            </a:r>
            <a:br/>
            <a:r>
              <a:t>Vを集める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074920"/>
            <a:ext cx="10378440" cy="566928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76749"/>
                </a:solidFill>
                <a:latin typeface="Yu Gothic"/>
              </a:defRPr>
            </a:pPr>
            <a:r>
              <a:t>どの情報を見るかを重みとして計算する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788152"/>
            <a:ext cx="987552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青=入力、黄=途中計算、緑=最終的に読む値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第10回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DEMO ASSET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この回で使う4つのファイル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7665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ファイル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excel_attention_transformer_demo.xlsx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excel_attention_transformer_demo_code.py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計算本体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excel_attention_transformer_slides.pptx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解説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README.md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使い方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691640"/>
            <a:ext cx="3246120" cy="12344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76749"/>
                </a:solidFill>
                <a:latin typeface="Yu Gothic"/>
              </a:defRPr>
            </a:pPr>
            <a:r>
              <a:t>Excelで入力し、</a:t>
            </a:r>
            <a:br/>
            <a:r>
              <a:t>Pythonで計算する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3429000"/>
            <a:ext cx="3246120" cy="12344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F6690"/>
                </a:solidFill>
                <a:latin typeface="Yu Gothic"/>
              </a:defRPr>
            </a:pPr>
            <a:r>
              <a:t>READMEで</a:t>
            </a:r>
            <a:br/>
            <a:r>
              <a:t>操作手順を確認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864608"/>
            <a:ext cx="1074420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800" b="0">
                <a:solidFill>
                  <a:srgbClr val="2F6690"/>
                </a:solidFill>
                <a:latin typeface="Yu Gothic"/>
              </a:defRPr>
            </a:pPr>
            <a:r>
              <a:t>GitHub: https://github.com/KanameShiga-dev/excel-deep-learning-calculation-demo/tree/main/10_attention_transformer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第10回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INPUT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01_INPUT がPythonに渡す値の入口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7680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範囲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Python上の表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A6:D9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token_vector_df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Q/K/V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F6:H9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projection_df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J6:L9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settings_df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Attention 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595360" y="1508760"/>
            <a:ext cx="2743200" cy="24231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2000" b="1">
                <a:solidFill>
                  <a:srgbClr val="276749"/>
                </a:solidFill>
                <a:latin typeface="Yu Gothic"/>
              </a:defRPr>
            </a:pPr>
            <a:r>
              <a:t>Pythonは</a:t>
            </a:r>
            <a:br/>
            <a:r>
              <a:t>xl(...)</a:t>
            </a:r>
            <a:br/>
            <a:r>
              <a:t>でこの範囲を読む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617720"/>
            <a:ext cx="10241280" cy="640080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4324B"/>
                </a:solidFill>
                <a:latin typeface="Yu Gothic"/>
              </a:defRPr>
            </a:pPr>
            <a:r>
              <a:t>Excelで変更した値が、そのままPythonの計算結果に反映されます。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第10回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EXCEL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どこを変えると、どの表が変わるか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109728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658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場所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変更・確認するもの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見える変化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A6:D9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token vectors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Q/K/V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F6:H9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projection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J6:L9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query_token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Attention 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4800600"/>
            <a:ext cx="10241280" cy="5943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操作の目的は、値を変えた時の表の変化を読むことです。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第10回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ExcelからPython、そして結果表へ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01168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Excel</a:t>
            </a:r>
            <a:br/>
            <a:r>
              <a:t>01_INPUT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600200"/>
            <a:ext cx="201168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外部Python</a:t>
            </a:r>
            <a:br/>
            <a:r>
              <a:t>xl(...)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600200"/>
            <a:ext cx="2011680" cy="91440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C77D20"/>
                </a:solidFill>
                <a:latin typeface="Yu Gothic"/>
              </a:defRPr>
            </a:pPr>
            <a:r>
              <a:t>pandas / NumPy</a:t>
            </a:r>
            <a:br/>
            <a:r>
              <a:t>計算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600200"/>
            <a:ext cx="2011680" cy="9144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76749"/>
                </a:solidFill>
                <a:latin typeface="Yu Gothic"/>
              </a:defRPr>
            </a:pPr>
            <a:r>
              <a:t>result_df</a:t>
            </a:r>
            <a:br/>
            <a:r>
              <a:t>表示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90956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97280" y="3657600"/>
          <a:ext cx="9601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/>
                <a:gridCol w="4800600"/>
              </a:tblGrid>
              <a:tr h="3886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表示名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見るもの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attention_score_df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attention_weight_df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Softmax後の重み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context_vector_df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Vの加重和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第10回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初期値の結果を表で読む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1417320"/>
          <a:ext cx="75895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</a:tblGrid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query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0.21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915400" y="1508760"/>
            <a:ext cx="2286000" cy="16916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76749"/>
                </a:solidFill>
                <a:latin typeface="Yu Gothic"/>
              </a:defRPr>
            </a:pPr>
            <a:r>
              <a:t>初期値の</a:t>
            </a:r>
            <a:br/>
            <a:r>
              <a:t>結果を読む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251960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42519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42519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251960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weight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4251960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V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4572000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09160" y="45720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0" y="45720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06840" y="45720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第10回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RUNBOOK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Python in Excel の実行手順だけを確認する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949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Python in Excel のセルを作成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外部 .py を貼り付け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Ctrl + Enter で実行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result_df を確認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display_mode を変えて再実行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600200"/>
            <a:ext cx="3017520" cy="20116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2000" b="1">
                <a:solidFill>
                  <a:srgbClr val="276749"/>
                </a:solidFill>
                <a:latin typeface="Yu Gothic"/>
              </a:defRPr>
            </a:pPr>
            <a:r>
              <a:t>実行後は</a:t>
            </a:r>
            <a:br/>
            <a:r>
              <a:t>result_df を確認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第10回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DISPLAY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display_modeで表示する表を切り替える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8549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9880"/>
                <a:gridCol w="2849880"/>
                <a:gridCol w="2849880"/>
              </a:tblGrid>
              <a:tr h="5760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返す表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読むポイント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attention_score_df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attention_weight_df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Softmax後の重み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context_vector_df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Vの加重和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exam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e_exam_point_df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確認ポイント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464040" y="1508760"/>
            <a:ext cx="1737360" cy="21488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700" b="1">
                <a:solidFill>
                  <a:srgbClr val="276749"/>
                </a:solidFill>
                <a:latin typeface="Yu Gothic"/>
              </a:defRPr>
            </a:pPr>
            <a:r>
              <a:t>まずは</a:t>
            </a:r>
            <a:br/>
            <a:r>
              <a:t>基本の表</a:t>
            </a:r>
            <a:br/>
            <a:r>
              <a:t>から読む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第10回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HOW TO READ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返却表の列を読む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858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7132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列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query_token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見る側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key_token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見られる側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関連度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attention_weight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重み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828800"/>
            <a:ext cx="3154680" cy="21945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700" b="1">
                <a:solidFill>
                  <a:srgbClr val="2F6690"/>
                </a:solidFill>
                <a:latin typeface="Yu Gothic"/>
              </a:defRPr>
            </a:pPr>
            <a:r>
              <a:t>列名を</a:t>
            </a:r>
            <a:br/>
            <a:r>
              <a:t>計算の役割に</a:t>
            </a:r>
            <a:br/>
            <a:r>
              <a:t>対応づける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第10回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HOW TO READ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設定を変えた時の差を見る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858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7132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列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取り出す情報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context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重み付き合計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temperature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重みの尖り方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注目順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828800"/>
            <a:ext cx="3154680" cy="21945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700" b="1">
                <a:solidFill>
                  <a:srgbClr val="276749"/>
                </a:solidFill>
                <a:latin typeface="Yu Gothic"/>
              </a:defRPr>
            </a:pPr>
            <a:r>
              <a:t>設定を変えたら</a:t>
            </a:r>
            <a:br/>
            <a:r>
              <a:t>どの列が動くかを</a:t>
            </a:r>
            <a:br/>
            <a:r>
              <a:t>見る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第10回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前後の回とのつながり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508760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5087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5087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508760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weight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1508760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V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1828800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09160" y="18288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18288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06840" y="18288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" y="3703320"/>
            <a:ext cx="3108960" cy="9144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76749"/>
                </a:solidFill>
                <a:latin typeface="Yu Gothic"/>
              </a:defRPr>
            </a:pPr>
            <a:r>
              <a:t>線形変換でQ/K/Vを作る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69080" y="4160520"/>
            <a:ext cx="45720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0" y="3703320"/>
            <a:ext cx="310896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4324B"/>
                </a:solidFill>
                <a:latin typeface="Yu Gothic"/>
              </a:defRPr>
            </a:pPr>
            <a:r>
              <a:t>Softmaxで重みへ変える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26679" y="4160520"/>
            <a:ext cx="45720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29600" y="3703320"/>
            <a:ext cx="3108960" cy="914400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4324B"/>
                </a:solidFill>
                <a:latin typeface="Yu Gothic"/>
              </a:defRPr>
            </a:pPr>
            <a:r>
              <a:t>Vを重み付きで集める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第10回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LIMITATION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小さな表で扱う範囲を確認する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417320"/>
          <a:ext cx="8778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4389120"/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この教材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実モデル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小さなベクトル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多次元・多ヘッド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1つのquery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全token同時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単純化した計算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位置情報や層を含む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97280" y="4389120"/>
            <a:ext cx="9509760" cy="777240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4324B"/>
                </a:solidFill>
                <a:latin typeface="Yu Gothic"/>
              </a:defRPr>
            </a:pPr>
            <a:r>
              <a:t>小さくしているのは、式と表の対応を見失わないためです。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第10回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式、Excel、Pythonの対応を押さえる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200400" cy="18288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2F6690"/>
                </a:solidFill>
                <a:latin typeface="Yu Gothic"/>
              </a:defRPr>
            </a:pPr>
            <a:r>
              <a:t>1</a:t>
            </a:r>
            <a:br/>
            <a:r>
              <a:t>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417320"/>
            <a:ext cx="3200400" cy="182880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C77D20"/>
                </a:solidFill>
                <a:latin typeface="Yu Gothic"/>
              </a:defRPr>
            </a:pPr>
            <a:r>
              <a:t>2</a:t>
            </a:r>
            <a:br/>
            <a:r>
              <a:t>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417320"/>
            <a:ext cx="3200400" cy="18288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276749"/>
                </a:solidFill>
                <a:latin typeface="Yu Gothic"/>
              </a:defRPr>
            </a:pPr>
            <a:r>
              <a:t>3</a:t>
            </a:r>
            <a:br/>
            <a:r>
              <a:t>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05840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800" b="1">
                <a:solidFill>
                  <a:srgbClr val="24324B"/>
                </a:solidFill>
                <a:latin typeface="Yu Gothic"/>
              </a:defRPr>
            </a:pPr>
            <a:r>
              <a:t>Q/K/V、score、Softmax、Attention weightを総復習する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第10回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この回の用語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280160"/>
          <a:ext cx="106070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61395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用語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見る側の表現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照合される表現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取り出す情報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関連度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attention_weight_df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重み表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context_vector_df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文脈ベクトル表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第10回 |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